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NUEVO LEÓN  ·  SECTOR SALUD  ·  DATOS PÚBLICOS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EcoMotion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71800"/>
            <a:ext cx="105156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F4F1EA"/>
                </a:solidFill>
                <a:latin typeface="Calibri"/>
              </a:rPr>
              <a:t>Web app estatal para evaluar SO₂, NO₂ y CO con criterio de salud,
y el sistema de conteo por cámaras que mide cuánta gente y cuántos
vehículos se exponen en cada hora.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09160"/>
            <a:ext cx="3017520" cy="640080"/>
          </a:xfrm>
          <a:prstGeom prst="round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773168"/>
            <a:ext cx="3017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0B1F33"/>
                </a:solidFill>
                <a:latin typeface="Calibri"/>
              </a:rPr>
              <a:t>Conteo · YuNet + YOLO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709160"/>
            <a:ext cx="3017520" cy="640080"/>
          </a:xfrm>
          <a:prstGeom prst="roundRect">
            <a:avLst/>
          </a:prstGeom>
          <a:solidFill>
            <a:srgbClr val="123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4773168"/>
            <a:ext cx="3017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Sentinel-5P + SIMA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4709160"/>
            <a:ext cx="3017520" cy="640080"/>
          </a:xfrm>
          <a:prstGeom prst="roundRect">
            <a:avLst/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4773168"/>
            <a:ext cx="30175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Tendencia 5–8 años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A88"/>
                </a:solidFill>
                <a:latin typeface="Calibri"/>
              </a:rPr>
              <a:t>Presentación del prototipo  ·  octubre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B0C0"/>
                </a:solidFill>
                <a:latin typeface="Calibri"/>
              </a:rPr>
              <a:t>EcoMotion  ·  Nuevo León  ·  Evaluación independiente con criterio de salud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B0C0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B1F33"/>
                </a:solidFill>
                <a:latin typeface="Calibri"/>
              </a:rP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960120"/>
            <a:ext cx="110642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24712"/>
            <a:ext cx="1005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FA7A0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06984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399032"/>
            <a:ext cx="9144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A88"/>
                </a:solidFill>
                <a:latin typeface="Calibri"/>
              </a:rPr>
              <a:t>Calidad del aire en NL y por qué el promedio diario no basta para salud.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0642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30552"/>
            <a:ext cx="1005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FA7A0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7568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La web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404872"/>
            <a:ext cx="9144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A88"/>
                </a:solidFill>
                <a:latin typeface="Calibri"/>
              </a:rPr>
              <a:t>Dictamen autónomo de SO₂, NO₂ y CO con Sentinel-5P y la red SIMA.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71800"/>
            <a:ext cx="110642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36392"/>
            <a:ext cx="1005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FA7A0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08152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Sistema de conteo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410712"/>
            <a:ext cx="9144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A88"/>
                </a:solidFill>
                <a:latin typeface="Calibri"/>
              </a:rPr>
              <a:t>Cámaras: YuNet + YOLO para personas y vehículos en tiempo real.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77640"/>
            <a:ext cx="110642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42232"/>
            <a:ext cx="1005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FA7A0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08736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Exposición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416552"/>
            <a:ext cx="9144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A88"/>
                </a:solidFill>
                <a:latin typeface="Calibri"/>
              </a:rPr>
              <a:t>Cruzar aforo horario con el índice AIRE y SALUD de cada estación.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983480"/>
            <a:ext cx="1106424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48072"/>
            <a:ext cx="10058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FA7A0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093208"/>
            <a:ext cx="9144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B1F33"/>
                </a:solidFill>
                <a:latin typeface="Calibri"/>
              </a:rPr>
              <a:t>Alcance y siguiente paso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422392"/>
            <a:ext cx="9144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A88"/>
                </a:solidFill>
                <a:latin typeface="Calibri"/>
              </a:rPr>
              <a:t>Solo estatal. Complementa al visor SIMA, no lo sustituye.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A88"/>
                </a:solidFill>
                <a:latin typeface="Calibri"/>
              </a:rPr>
              <a:t>EcoMotion  ·  Nuevo León  ·  Evaluación independiente con criterio de salud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A88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B1F33"/>
                </a:solidFill>
                <a:latin typeface="Calibri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A38"/>
                </a:solidFill>
                <a:latin typeface="Calibri"/>
              </a:rPr>
              <a:t>Un mapa de colores del día no dice si se está protegiendo la salud, ni a cuánta gente le toca el aire malo.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486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73152" cy="2057400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72184"/>
            <a:ext cx="519379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Gases de interés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5193792" cy="1490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A38"/>
                </a:solidFill>
                <a:latin typeface="Calibri"/>
              </a:rPr>
              <a:t>Solo SO₂, NO₂ y CO. No ozono, no PM, no metano: el alcance es el de las verificaciones de contaminación de estos tres gases.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325880"/>
            <a:ext cx="5486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325880"/>
            <a:ext cx="73152" cy="2057400"/>
          </a:xfrm>
          <a:prstGeom prst="rect">
            <a:avLst/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7" y="1472184"/>
            <a:ext cx="519379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07A3D"/>
                </a:solidFill>
                <a:latin typeface="Calibri"/>
              </a:rPr>
              <a:t>Exposición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1783080"/>
            <a:ext cx="5193792" cy="1490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A38"/>
                </a:solidFill>
                <a:latin typeface="Calibri"/>
              </a:rPr>
              <a:t>El riesgo no es el pixel del satélite: es cuántas personas y vehículos están en la calle cuando el índice está en mala o peor.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66160"/>
            <a:ext cx="5486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566160"/>
            <a:ext cx="73152" cy="2057400"/>
          </a:xfrm>
          <a:prstGeom prst="rect">
            <a:avLst/>
          </a:prstGeom>
          <a:solidFill>
            <a:srgbClr val="C4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712464"/>
            <a:ext cx="519379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4483D"/>
                </a:solidFill>
                <a:latin typeface="Calibri"/>
              </a:rPr>
              <a:t>Gestión vs. salud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023360"/>
            <a:ext cx="5193792" cy="1490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A38"/>
                </a:solidFill>
                <a:latin typeface="Calibri"/>
              </a:rPr>
              <a:t>Cumplir la NOM no equivale a cumplir la guía OMS 2021. El dictamen de EcoMotion prioriza el criterio sanitario.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566160"/>
            <a:ext cx="5486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566160"/>
            <a:ext cx="73152" cy="20574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7" y="3712464"/>
            <a:ext cx="5193792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Solo Nuevo León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4023360"/>
            <a:ext cx="5193792" cy="1490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1A2A38"/>
                </a:solidFill>
                <a:latin typeface="Calibri"/>
              </a:rPr>
              <a:t>Ni mundial ni nacional. AMM, corredor Cadereyta–Pesquería, occidente, norte y sur.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A88"/>
                </a:solidFill>
                <a:latin typeface="Calibri"/>
              </a:rPr>
              <a:t>EcoMotion  ·  Nuevo León  ·  Evaluación independiente con criterio de salud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A88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B1F33"/>
                </a:solidFill>
                <a:latin typeface="Calibri"/>
              </a:rPr>
              <a:t>Qué es EcoMotion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A38"/>
                </a:solidFill>
                <a:latin typeface="Calibri"/>
              </a:rPr>
              <a:t>Una web app que lee datos públicos y emite un veredicto de gestión: adecuada, parcial o insuficiente para el sector salud.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325880"/>
            <a:ext cx="1080820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A38"/>
                </a:solidFill>
                <a:latin typeface="Calibri"/>
              </a:rPr>
              <a:t>Tendencia OLS y Mann–Kendall / Sen en ventanas de 5 años y de la serie Sentinel-5P (~7–8 años; el satélite opera desde 2018, no se inventan 10 años de órbita).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93976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93976"/>
            <a:ext cx="1080820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A38"/>
                </a:solidFill>
                <a:latin typeface="Calibri"/>
              </a:rPr>
              <a:t>Recorte geográfico estricto al polígono de Nuevo León. El promedio estatal se pondera por población.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62072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62072"/>
            <a:ext cx="108082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A38"/>
                </a:solidFill>
                <a:latin typeface="Calibri"/>
              </a:rPr>
              <a:t>Comparación simultánea contra OMS 2021 y NOM-021 / 022 / 023-SSA1.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520440"/>
            <a:ext cx="108082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A38"/>
                </a:solidFill>
                <a:latin typeface="Calibri"/>
              </a:rPr>
              <a:t>Complemento del visor estatal SIMA (aire.nl.gob.mx), no un duplicado cosmética del mapa.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78808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178808"/>
            <a:ext cx="1080820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A38"/>
                </a:solidFill>
                <a:latin typeface="Calibri"/>
              </a:rPr>
              <a:t>Módulo de exposición: aforos de cámaras × índice AIRE y SALUD hora por hora.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A88"/>
                </a:solidFill>
                <a:latin typeface="Calibri"/>
              </a:rPr>
              <a:t>EcoMotion  ·  Nuevo León  ·  Evaluación independiente con criterio de salud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A88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Dos capas de evidencia, mismo estado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60120"/>
            <a:ext cx="553212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5532120" cy="6400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78992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Satélite  ·  Sentinel-5P TROPOMI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783080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Fuente: catálogo Google Earth Engine, solo productos de contaminación.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286000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NO₂  COPERNICUS/S5P/OFFL/L3_NO2  — columna troposférica.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788920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SO₂  COPERNICUS/S5P/OFFL/L3_SO2  — columna de SO₂.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9184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291840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CO   COPERNICUS/S5P/OFFL/L3_CO   — columna de 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9476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794760"/>
            <a:ext cx="481888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Independiente de la red terrestre. Sirve para ver si el patrón de superficie es un artefacto de cobertura.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4407408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Verificación horaria del feed; OFFL tarda días, NRTI ~3 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960120"/>
            <a:ext cx="5532120" cy="5212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960120"/>
            <a:ext cx="5532120" cy="640080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078992"/>
            <a:ext cx="52120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Superficie  ·  red SIMA NL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78308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1783080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Valores de la Dirección de Gestión de Calidad del Aire del Estado.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8600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2286000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Escala oficial AIRE y SALUD: Buena → Extremadamente mala.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78892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2788920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Una región toma el peor índice de sus estaciones (criterio precautorio).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9184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3291840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Los 10 años de superficie, si se requieren, salen de SIMA / INECC, no del satélite.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79476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3794760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Complemento directo del mapa SIMA Bing / ICARS.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29768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4297680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Feed horario para cruzar con el conteo de cámaras.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A88"/>
                </a:solidFill>
                <a:latin typeface="Calibri"/>
              </a:rPr>
              <a:t>EcoMotion  ·  Nuevo León  ·  Evaluación independiente con criterio de salud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A88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Análisis estadístico de línea de tendencia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A38"/>
                </a:solidFill>
                <a:latin typeface="Calibri"/>
              </a:rPr>
              <a:t>No basta “se ve más verde”. Se prueba si la serie baja de forma sostenida.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7889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63040"/>
            <a:ext cx="2468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FA7A0"/>
                </a:solidFill>
                <a:latin typeface="Calibri"/>
              </a:rPr>
              <a:t>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920240"/>
            <a:ext cx="246888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Regresión lineal sobre la serie desestacionalizada. Pendiente, % de cambio en la ventana y R².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280160"/>
            <a:ext cx="27889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1463040"/>
            <a:ext cx="2468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FA7A0"/>
                </a:solidFill>
                <a:latin typeface="Calibri"/>
              </a:rPr>
              <a:t>Mann–Kendall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1920240"/>
            <a:ext cx="246888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Prueba no paramétrica de tendencia. Reporta alza / baja / estable y p-valor.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27889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463040"/>
            <a:ext cx="2468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FA7A0"/>
                </a:solidFill>
                <a:latin typeface="Calibri"/>
              </a:rPr>
              <a:t>Sen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920240"/>
            <a:ext cx="246888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Pendiente robusta (unidades/año). Menos sensible a un mes extremo.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280160"/>
            <a:ext cx="27889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00032" y="1463040"/>
            <a:ext cx="24688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FA7A0"/>
                </a:solidFill>
                <a:latin typeface="Calibri"/>
              </a:rPr>
              <a:t>Ventanas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1920240"/>
            <a:ext cx="246888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5 años (gestión reciente) y serie completa S5P (~2019–2026). El usuario recorta el rango.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1124712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233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B1F33"/>
                </a:solidFill>
                <a:latin typeface="Calibri"/>
              </a:rPr>
              <a:t>Dictamen autónomo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34840"/>
            <a:ext cx="1078992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1A2A38"/>
                </a:solidFill>
                <a:latin typeface="Calibri"/>
              </a:rPr>
              <a:t>Si el gas incumple salud y la tendencia no baja con significancia, la gestión se marca insuficiente.
Si baja y se acerca a protección sanitaria: adecuada, con la advertencia de no declarar el problema cerrado.
Si satélite y superficie divergen, el sistema lo dice: no se esconde detrás de un solo promedio.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A88"/>
                </a:solidFill>
                <a:latin typeface="Calibri"/>
              </a:rPr>
              <a:t>EcoMotion  ·  Nuevo León  ·  Evaluación independiente con criterio de salud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A88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4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Énfasis en el sector salud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88720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24712"/>
            <a:ext cx="102412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Gas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960120"/>
            <a:ext cx="4846320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124712"/>
            <a:ext cx="468172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Por qué importa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960120"/>
            <a:ext cx="2286000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124712"/>
            <a:ext cx="212140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OMS 2021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78240" y="960120"/>
            <a:ext cx="2880360" cy="9601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124712"/>
            <a:ext cx="271576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NOM (SSA1)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11887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84832"/>
            <a:ext cx="102412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A2A38"/>
                </a:solidFill>
                <a:latin typeface="Calibri"/>
              </a:rPr>
              <a:t>NO₂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1920240"/>
            <a:ext cx="48463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2084832"/>
            <a:ext cx="468172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A38"/>
                </a:solidFill>
                <a:latin typeface="Calibri"/>
              </a:rPr>
              <a:t>Asma, EPOC, IRAs. Niños, adultos mayores, trabajadores al aire libre.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920240"/>
            <a:ext cx="22860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084832"/>
            <a:ext cx="212140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A38"/>
                </a:solidFill>
                <a:latin typeface="Calibri"/>
              </a:rPr>
              <a:t>10 µg/m³ anual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1920240"/>
            <a:ext cx="2880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2084832"/>
            <a:ext cx="271576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A38"/>
                </a:solidFill>
                <a:latin typeface="Calibri"/>
              </a:rPr>
              <a:t>0.021 ppm anual (~40 µg/m³)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80360"/>
            <a:ext cx="1188720" cy="96012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044952"/>
            <a:ext cx="102412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A2A38"/>
                </a:solidFill>
                <a:latin typeface="Calibri"/>
              </a:rPr>
              <a:t>SO₂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0" y="2880360"/>
            <a:ext cx="4846320" cy="96012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37360" y="3044952"/>
            <a:ext cx="468172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A38"/>
                </a:solidFill>
                <a:latin typeface="Calibri"/>
              </a:rPr>
              <a:t>Irritación respiratoria; pico histórico en corredor industrial / refinación.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880360"/>
            <a:ext cx="2286000" cy="96012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044952"/>
            <a:ext cx="212140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A38"/>
                </a:solidFill>
                <a:latin typeface="Calibri"/>
              </a:rPr>
              <a:t>40 µg/m³ (24 h)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0" y="2880360"/>
            <a:ext cx="2880360" cy="960120"/>
          </a:xfrm>
          <a:prstGeom prst="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3044952"/>
            <a:ext cx="271576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A38"/>
                </a:solidFill>
                <a:latin typeface="Calibri"/>
              </a:rPr>
              <a:t>NOM-022: 0.075 ppm p99 / 0.040 ppm 24 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840480"/>
            <a:ext cx="11887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05072"/>
            <a:ext cx="102412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A2A38"/>
                </a:solidFill>
                <a:latin typeface="Calibri"/>
              </a:rPr>
              <a:t>CO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45920" y="3840480"/>
            <a:ext cx="484632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0" y="4005072"/>
            <a:ext cx="468172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A38"/>
                </a:solidFill>
                <a:latin typeface="Calibri"/>
              </a:rPr>
              <a:t>Carboxihemoglobina. Riesgo cardiovascular, gestantes, cardiopatía.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3840480"/>
            <a:ext cx="228600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4005072"/>
            <a:ext cx="212140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A38"/>
                </a:solidFill>
                <a:latin typeface="Calibri"/>
              </a:rPr>
              <a:t>4 mg/m³ (24 h)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0" y="3840480"/>
            <a:ext cx="288036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4005072"/>
            <a:ext cx="2715768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A38"/>
                </a:solidFill>
                <a:latin typeface="Calibri"/>
              </a:rPr>
              <a:t>NOM-021: 26 ppm 1 h / 9 ppm 8 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A38"/>
                </a:solidFill>
                <a:latin typeface="Calibri"/>
              </a:rPr>
              <a:t>La NOM es el piso legal mexicano. La OMS es el piso sanitario. EcoMotion muestra ambos y no deja que “estamos en norma” se lea como “es seguro para la población”.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A88"/>
                </a:solidFill>
                <a:latin typeface="Calibri"/>
              </a:rPr>
              <a:t>EcoMotion  ·  Nuevo León  ·  Evaluación independiente con criterio de salud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A88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E07A3D"/>
                </a:solidFill>
                <a:latin typeface="Calibri"/>
              </a:rPr>
              <a:t>PIEZA CENTRAL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Conteo de personas y vehículos por cámaras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4F1EA"/>
                </a:solidFill>
                <a:latin typeface="Calibri"/>
              </a:rPr>
              <a:t>Visión por computadora en el punto de paso: no es un sensor de tráfico genérico,
es el ojo que alimenta la exposición a contaminación.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5577840" cy="1737360"/>
          </a:xfrm>
          <a:prstGeom prst="roundRect">
            <a:avLst/>
          </a:prstGeom>
          <a:solidFill>
            <a:srgbClr val="123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FA7A0"/>
                </a:solidFill>
                <a:latin typeface="Calibri"/>
              </a:rPr>
              <a:t>YuNet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1206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1EA"/>
                </a:solidFill>
                <a:latin typeface="Calibri"/>
              </a:rPr>
              <a:t>Detector de rostros siempre en READY. Identifica cabezas y da un recuento estable en interior y plaza.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148840"/>
            <a:ext cx="5577840" cy="1737360"/>
          </a:xfrm>
          <a:prstGeom prst="roundRect">
            <a:avLst/>
          </a:prstGeom>
          <a:solidFill>
            <a:srgbClr val="123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233172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FA7A0"/>
                </a:solidFill>
                <a:latin typeface="Calibri"/>
              </a:rPr>
              <a:t>YOLO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743200"/>
            <a:ext cx="51206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1EA"/>
                </a:solidFill>
                <a:latin typeface="Calibri"/>
              </a:rPr>
              <a:t>Detecta cuerpo completo de persona y clases de vehículo. Reporta people / vehicles / candidatos.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069080"/>
            <a:ext cx="5577840" cy="1737360"/>
          </a:xfrm>
          <a:prstGeom prst="roundRect">
            <a:avLst/>
          </a:prstGeom>
          <a:solidFill>
            <a:srgbClr val="123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FA7A0"/>
                </a:solidFill>
                <a:latin typeface="Calibri"/>
              </a:rPr>
              <a:t>HUD en vivo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51206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1EA"/>
                </a:solidFill>
                <a:latin typeface="Calibri"/>
              </a:rPr>
              <a:t>FPS, cajas, confianza (%). El operador ve el mismo overlay que queda en evidencia.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4069080"/>
            <a:ext cx="5577840" cy="1737360"/>
          </a:xfrm>
          <a:prstGeom prst="roundRect">
            <a:avLst/>
          </a:prstGeom>
          <a:solidFill>
            <a:srgbClr val="123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425196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FA7A0"/>
                </a:solidFill>
                <a:latin typeface="Calibri"/>
              </a:rPr>
              <a:t>Hacia EcoMotion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663440"/>
            <a:ext cx="51206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4F1EA"/>
                </a:solidFill>
                <a:latin typeface="Calibri"/>
              </a:rPr>
              <a:t>Cada hora se publica cuántos pasos hubo. Eso se cruza con SIMA. Ahí nace “personas expuestas”.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B0C0"/>
                </a:solidFill>
                <a:latin typeface="Calibri"/>
              </a:rPr>
              <a:t>EcoMotion  ·  Nuevo León  ·  Evaluación independiente con criterio de salud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B0C0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0B1F33"/>
                </a:solidFill>
                <a:latin typeface="Calibri"/>
              </a:rPr>
              <a:t>El sistema en operación  ·  captura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11338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A88"/>
                </a:solidFill>
                <a:latin typeface="Calibri"/>
              </a:rPr>
              <a:t>YuNet listo + YOLO: personas localizadas, vehículos en cero en este interior, 21 FPS.</a:t>
            </a:r>
          </a:p>
        </p:txBody>
      </p:sp>
      <p:pic>
        <p:nvPicPr>
          <p:cNvPr id="6" name="Picture 5" descr="conteo-cama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7863840" cy="5257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960120"/>
            <a:ext cx="3383280" cy="5257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143000"/>
            <a:ext cx="3063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Qué se lee en el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60020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392" y="1600200"/>
            <a:ext cx="27614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A38"/>
                </a:solidFill>
                <a:latin typeface="Calibri"/>
              </a:rPr>
              <a:t>DETECTOR: YUNET 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039112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1392" y="2039112"/>
            <a:ext cx="27614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A38"/>
                </a:solidFill>
                <a:latin typeface="Calibri"/>
              </a:rPr>
              <a:t>YOLO people: 2  vehicles: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478024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1392" y="2478024"/>
            <a:ext cx="27614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A38"/>
                </a:solidFill>
                <a:latin typeface="Calibri"/>
              </a:rPr>
              <a:t>Caja azul = persona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916936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2916936"/>
            <a:ext cx="27614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A38"/>
                </a:solidFill>
                <a:latin typeface="Calibri"/>
              </a:rPr>
              <a:t>Caja verde = rostro (YuNet)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355848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392" y="3355848"/>
            <a:ext cx="27614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A38"/>
                </a:solidFill>
                <a:latin typeface="Calibri"/>
              </a:rPr>
              <a:t>Etiqueta PERSON + % de confianza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79476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3794760"/>
            <a:ext cx="27614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A38"/>
                </a:solidFill>
                <a:latin typeface="Calibri"/>
              </a:rPr>
              <a:t>Barra: FPS 21.0 | PEOPLE 2 | VEHICLES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233672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4233672"/>
            <a:ext cx="27614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1A2A38"/>
                </a:solidFill>
                <a:latin typeface="Calibri"/>
              </a:rPr>
              <a:t>Misma tubería que se despliega en plaza o avenida.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A88"/>
                </a:solidFill>
                <a:latin typeface="Calibri"/>
              </a:rPr>
              <a:t>EcoMotion  ·  Nuevo León  ·  Evaluación independiente con criterio de salud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A88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Escena de ejemplo  ·  plaza / avenida  (imagen dummy de multitud)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F4F1EA"/>
                </a:solidFill>
                <a:latin typeface="Calibri"/>
              </a:rPr>
              <a:t>Misma lógica del detector: personas en plaza, vehículos en el arroyo. Relevancia = aforo masivo bajo contaminación.</a:t>
            </a:r>
          </a:p>
        </p:txBody>
      </p:sp>
      <p:pic>
        <p:nvPicPr>
          <p:cNvPr id="6" name="Picture 5" descr="dummy-multitud-overl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41248"/>
            <a:ext cx="11567160" cy="5349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B0C0"/>
                </a:solidFill>
                <a:latin typeface="Calibri"/>
              </a:rPr>
              <a:t>EcoMotion  ·  Nuevo León  ·  Evaluación independiente con criterio de salud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B0C0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000" b="1">
                <a:solidFill>
                  <a:srgbClr val="0B1F33"/>
                </a:solidFill>
                <a:latin typeface="Calibri"/>
              </a:rPr>
              <a:t>Del frame al dato de salud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60120"/>
            <a:ext cx="2212848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1143000"/>
            <a:ext cx="640080" cy="640080"/>
          </a:xfrm>
          <a:prstGeom prst="ellipse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207008"/>
            <a:ext cx="640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920240"/>
            <a:ext cx="199339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F33"/>
                </a:solidFill>
                <a:latin typeface="Calibri"/>
              </a:rPr>
              <a:t>Cámara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331720"/>
            <a:ext cx="1993392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A2A38"/>
                </a:solidFill>
                <a:latin typeface="Calibri"/>
              </a:rPr>
              <a:t>El flujo de video entra al detector YuNet + YOLO en el borde (poste, interior, plaza).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FA7A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4912" y="960120"/>
            <a:ext cx="2212848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02152" y="1143000"/>
            <a:ext cx="640080" cy="640080"/>
          </a:xfrm>
          <a:prstGeom prst="ellipse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1207008"/>
            <a:ext cx="640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920240"/>
            <a:ext cx="199339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F33"/>
                </a:solidFill>
                <a:latin typeface="Calibri"/>
              </a:rPr>
              <a:t>Conteo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331720"/>
            <a:ext cx="1993392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A2A38"/>
                </a:solidFill>
                <a:latin typeface="Calibri"/>
              </a:rPr>
              <a:t>Se agregan personas y vehículos por minuto y se cierran en un total horario.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19456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FA7A0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4064" y="960120"/>
            <a:ext cx="2212848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61304" y="1143000"/>
            <a:ext cx="640080" cy="640080"/>
          </a:xfrm>
          <a:prstGeom prst="ellipse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61304" y="1207008"/>
            <a:ext cx="640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1920240"/>
            <a:ext cx="199339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F33"/>
                </a:solidFill>
                <a:latin typeface="Calibri"/>
              </a:rPr>
              <a:t>Feed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331720"/>
            <a:ext cx="1993392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A2A38"/>
                </a:solidFill>
                <a:latin typeface="Calibri"/>
              </a:rPr>
              <a:t>Se publica aforos.json: sensor, hora local, people (y vehicles).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0024" y="219456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FA7A0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43216" y="960120"/>
            <a:ext cx="2212848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0456" y="1143000"/>
            <a:ext cx="640080" cy="640080"/>
          </a:xfrm>
          <a:prstGeom prst="ellipse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0456" y="1207008"/>
            <a:ext cx="640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2944" y="1920240"/>
            <a:ext cx="199339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F33"/>
                </a:solidFill>
                <a:latin typeface="Calibri"/>
              </a:rPr>
              <a:t>Cruce SIMA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2944" y="2331720"/>
            <a:ext cx="1993392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A2A38"/>
                </a:solidFill>
                <a:latin typeface="Calibri"/>
              </a:rPr>
              <a:t>Esa hora se alinea con el índice AIRE y SALUD de la estación más cercana.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194560"/>
            <a:ext cx="411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FA7A0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2368" y="960120"/>
            <a:ext cx="2212848" cy="3246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79608" y="1143000"/>
            <a:ext cx="640080" cy="640080"/>
          </a:xfrm>
          <a:prstGeom prst="ellipse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79608" y="1207008"/>
            <a:ext cx="6400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12096" y="1920240"/>
            <a:ext cx="199339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B1F33"/>
                </a:solidFill>
                <a:latin typeface="Calibri"/>
              </a:rPr>
              <a:t>Exposición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12096" y="2331720"/>
            <a:ext cx="1993392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1A2A38"/>
                </a:solidFill>
                <a:latin typeface="Calibri"/>
              </a:rPr>
              <a:t>EcoMotion reporta cuántos pasos ocurrieron con aire Aceptable / Mala / Muy mala.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34840"/>
            <a:ext cx="11247120" cy="1554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5720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Contrato del dato (ejemplo)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8920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onsolas"/>
              </a:rPr>
              <a:t>{ "sensor": "mty-macroplaza-01", "hour": "2026-10-14 19:00", "people": 1840, "vehicles": 126 }
hour usa el mismo reloj que SIMA. Si no hay índice esa hora, el conteo se reporta como desconocido, nunca como “aire bueno”.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A88"/>
                </a:solidFill>
                <a:latin typeface="Calibri"/>
              </a:rPr>
              <a:t>EcoMotion  ·  Nuevo León  ·  Evaluación independiente con criterio de salud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A88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Por qué el conteo es la pieza de salud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2A38"/>
                </a:solidFill>
                <a:latin typeface="Calibri"/>
              </a:rPr>
              <a:t>Sin cámaras, la contaminación es un mapa. Con cámaras, es una población concreta a una hora concreta.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4712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09728" cy="1024128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35608"/>
            <a:ext cx="10607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Personas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46504"/>
            <a:ext cx="10607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Niños a la salida de escuela, peatones en Macroplaza, trabajadores en andén. El umbral “Mala o peor” aplica a toda la población, no solo a grupos sensibles.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1124712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109728" cy="1024128"/>
          </a:xfrm>
          <a:prstGeom prst="rect">
            <a:avLst/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578608"/>
            <a:ext cx="10607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Vehículos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89504"/>
            <a:ext cx="10607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El conteo vehicular no es vanity metric: es proxy de combustión en el mismo corredor que emite NO₂ y CO, y de ocupantes expuestos en congestionamiento.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11880"/>
            <a:ext cx="1124712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11880"/>
            <a:ext cx="109728" cy="1024128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21608"/>
            <a:ext cx="10607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Hora pico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32504"/>
            <a:ext cx="10607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Un IMECA “aceptable” a las 03:00 no cancela un IMECA “mala” a las 18:00 con 20× más peatones. El cruce horario evita ese sesgo.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1247120" cy="10241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109728" cy="1024128"/>
          </a:xfrm>
          <a:prstGeom prst="rect">
            <a:avLst/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64608"/>
            <a:ext cx="106070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Gestión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75504"/>
            <a:ext cx="106070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Permite preguntar: ¿las medidas (Hoy No Circula, industria, transporte) coinciden con las horas y lugares donde hay más gente en la calle?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A88"/>
                </a:solidFill>
                <a:latin typeface="Calibri"/>
              </a:rPr>
              <a:t>EcoMotion  ·  Nuevo León  ·  Evaluación independiente con criterio de salud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A88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8600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B1F33"/>
                </a:solidFill>
                <a:latin typeface="Calibri"/>
              </a:rPr>
              <a:t>Alcance y honestidad del prototipo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5532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FA7A0"/>
                </a:solidFill>
                <a:latin typeface="Calibri"/>
              </a:rPr>
              <a:t>Lo que ya queda claro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600200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Estatal: polígono de Nuevo León. AMM, Cadereyta–Pesquería, occidente, norte, sur.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13432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13432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Complementa SIMA; no reemplaza su mapa operativo ni sus IMECA oficiales.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26664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26664"/>
            <a:ext cx="481888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Los sensores cuentan pasos, no personas únicas. Una persona puede sumar en varias horas o cámaras.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49624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849624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Sentinel-5P no cubre 10 años. La app no finge órbitas anteriores a 2018.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914400"/>
            <a:ext cx="55321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E07A3D"/>
                </a:solidFill>
                <a:latin typeface="Calibri"/>
              </a:rPr>
              <a:t>Siguiente paso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00200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1600200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Publicar aforos.json (o VITE_AFOROS_URL) desde las cámaras en campo.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13432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2313432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Dejar fetch_sima.py --hourly y el extractor S5P para verificación continua.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26664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2" y="3026664"/>
            <a:ext cx="4818888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Ampliar clases YOLO (camión, autobús) en corredores industriales.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39896"/>
            <a:ext cx="201168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3739896"/>
            <a:ext cx="481888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2A38"/>
                </a:solidFill>
                <a:latin typeface="Calibri"/>
              </a:rPr>
              <a:t>Auditoría de privacidad: el sistema cuenta; no almacena identidad ni recortes de rostro en la web app.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A88"/>
                </a:solidFill>
                <a:latin typeface="Calibri"/>
              </a:rPr>
              <a:t>EcoMotion  ·  Nuevo León  ·  Evaluación independiente con criterio de salud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A88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A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A7A0"/>
                </a:solidFill>
                <a:latin typeface="Calibri"/>
              </a:rPr>
              <a:t>EN UNA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>
                <a:solidFill>
                  <a:srgbClr val="FFFFFF"/>
                </a:solidFill>
                <a:latin typeface="Calibri"/>
              </a:rPr>
              <a:t>EcoMotion no pregunta de qué color salió el mapa hoy.
Pregunta si SO₂, NO₂ y CO bajan de verdad,
y cuántas personas y vehículos estuvieron ahí cuando el aire no era seguro.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4F1EA"/>
                </a:solidFill>
                <a:latin typeface="Calibri"/>
              </a:rPr>
              <a:t>Cámaras (YuNet + YOLO)  ·  SIMA  ·  Sentinel-5P  ·  OMS / NOM  ·  solo Nuevo León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FA7A0"/>
                </a:solidFill>
                <a:latin typeface="Calibri"/>
              </a:rPr>
              <a:t>Gracias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9AB0C0"/>
                </a:solidFill>
                <a:latin typeface="Calibri"/>
              </a:rPr>
              <a:t>EcoMotion  ·  Nuevo León  ·  Evaluación independiente con criterio de salud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37960"/>
            <a:ext cx="12801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9AB0C0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